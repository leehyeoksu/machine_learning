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커리어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B4C8E6"/>
                </a:solidFill>
              </a:defRPr>
            </a:pPr>
            <a:r>
              <a:t>2025-2029 성장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부트캠프 → 학부연구생 → 대학원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E30"/>
                </a:solidFill>
              </a:defRPr>
            </a:pPr>
            <a:r>
              <a:t>전체 로드맵 개요 (2025-2029)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4285F4"/>
                </a:solidFill>
              </a:defRPr>
            </a:pPr>
            <a:r>
              <a:t>Phase 1: 부트캠프 (2025.11 ~ 2026.04)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이스트소프트 AI 부트캠프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ML/DL 기초 + PyTorch + FastAPI 심화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34A853"/>
                </a:solidFill>
              </a:defRPr>
            </a:pPr>
            <a:r>
              <a:t>Phase 2: 학부연구생 (2026.05 ~ 2026.12)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경희대 연구실 합류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연구 경험 + 포트폴리오 구축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FBBC05"/>
                </a:solidFill>
              </a:defRPr>
            </a:pPr>
            <a:r>
              <a:t>Phase 3: 대학원 진학 (2027.02 입학)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3가지 전략적 옵션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자대 / 타대(SPK) / 타대(YK/IST)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EA4335"/>
                </a:solidFill>
              </a:defRPr>
            </a:pPr>
            <a:r>
              <a:t>Phase 4: 석사과정 (2027.03 ~ 2029.02)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연구 성과 창출 + 논문 발표</a:t>
            </a:r>
          </a:p>
          <a:p>
            <a:pPr lvl="1">
              <a:spcAft>
                <a:spcPts val="400"/>
              </a:spcAft>
              <a:defRPr sz="1800">
                <a:solidFill>
                  <a:srgbClr val="3C3C3C"/>
                </a:solidFill>
              </a:defRPr>
            </a:pPr>
            <a:r>
              <a:t>  • 취업 준비 병행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67D2"/>
                </a:solidFill>
              </a:defRPr>
            </a:pPr>
            <a:r>
              <a:t>Phase 1: 부트캠프 (2025.11 ~ 2026.04)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🎯 목표: 이론과 실전 역량 균형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967D2"/>
                </a:solidFill>
              </a:defRPr>
            </a:pPr>
            <a:r>
              <a:t>📌 핵심 학습 영역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ML/DL 기초 이론 정리 (SVM, 경사하강법, Convex Optimization)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PyTorch 딥러닝 실습 심화 (논문 구현, 오픈소스 따라하기)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FastAPI + Flask 웹 프레임워크 마스터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Docker + Celery를 활용한 서버 사이드 프로그래밍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1967D2"/>
                </a:solidFill>
              </a:defRPr>
            </a:pPr>
            <a:r>
              <a:t>📌 필수 프로젝트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End-to-End ML 프로젝트 (데이터 준비 → 학습 → 배포)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PyTorch + FastAPI 통합 서비스 구축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MLOps 도구 경험 (Docker, GitHub Actions)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부트캠프 팀 프로젝트 → 포트폴리오화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1967D2"/>
                </a:solidFill>
              </a:defRPr>
            </a:pPr>
            <a:r>
              <a:t>📌 학습 우선순위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1️⃣ 수학/이론 보완 (선형대수, 확률론)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2️⃣ 기술스택 심화 (PyTorch, Docker, Redis)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3️⃣ 통합 프로젝트 경험 (주/월 단위 결과물 생산)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5E20"/>
                </a:solidFill>
              </a:defRPr>
            </a:pPr>
            <a:r>
              <a:t>Phase 2: 학부연구생 (2026.05 ~ 2026.12)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A853"/>
                </a:solidFill>
              </a:defRPr>
            </a:pPr>
            <a:r>
              <a:t>🎯 목표: 연구 수행 능력 &amp; 팀 협업 역량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5E20"/>
                </a:solidFill>
              </a:defRPr>
            </a:pPr>
            <a:r>
              <a:t>📌 핵심 경험 요소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문제 정의 &amp; 문헌 조사 (관련 논문 읽기 및 요약)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연구 기획 &amp; 실험 설계 (소규모 연구과제 주도)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코딩 &amp; 시스템 통합 (FastAPI, PyTorch, Docker 활용)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결과 분석 &amp; 보고 (연구실 세미나 발표)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B5E20"/>
                </a:solidFill>
              </a:defRPr>
            </a:pPr>
            <a:r>
              <a:t>📌 구체적 활동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최소 1개 연구 프로젝트 처음부터 끝까지 경험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대학원생 멘토와 협업 (주간 미팅, 피드백 사이클)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국내 학회 포스터 발표 또는 교내 논문경진대회 도전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여름방학: AI 해커톤/공모전 참가 (수상 경력 노리기)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B5E20"/>
                </a:solidFill>
              </a:defRPr>
            </a:pPr>
            <a:r>
              <a:t>📌 대학원 진학 준비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영어 성적 준비 (TOEIC 900+ / TOEFL 90+)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희망 대학원 리스트업 &amp; 교수 컨택 시작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추천서 확보 (연구실 교수님, 부트캠프 멘토)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포트폴리오 프로젝트 3개+ 완성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7C00"/>
                </a:solidFill>
              </a:defRPr>
            </a:pPr>
            <a:r>
              <a:t>Phase 3: 대학원 진학 전략 (2027.02 입학)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5100"/>
                </a:solidFill>
              </a:defRPr>
            </a:pPr>
            <a:r>
              <a:t>🎯 3가지 전략적 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41E30"/>
                </a:solidFill>
              </a:defRPr>
            </a:pPr>
            <a:r>
              <a:t>옵션 1: 자대 (경희대) 진학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   [강력 추천 / 안전]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학부연구생 활동 랩으로 진학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장학금 &amp; 인건비 협상 유리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2200" b="1">
                <a:solidFill>
                  <a:srgbClr val="141E30"/>
                </a:solidFill>
              </a:defRPr>
            </a:pPr>
            <a:r>
              <a:t>옵션 2: 타대 (SPK) 진학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D32F2F"/>
                </a:solidFill>
              </a:defRPr>
            </a:pPr>
            <a:r>
              <a:t>   [도전 / 위험]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4학년 여름방학 인턴십 프로그램 지원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Open Lab 통한 우회로 모색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2200" b="1">
                <a:solidFill>
                  <a:srgbClr val="141E30"/>
                </a:solidFill>
              </a:defRPr>
            </a:pPr>
            <a:r>
              <a:t>옵션 3: 타대 (YK/IST) 진학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F57C00"/>
                </a:solidFill>
              </a:defRPr>
            </a:pPr>
            <a:r>
              <a:t>   [도전 / 가능]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GitHub + 기술블로그 + Cold Email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 • 공격적인 컨택 전략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5E20"/>
                </a:solidFill>
              </a:defRPr>
            </a:pPr>
            <a:r>
              <a:t>옵션 1: 자대 (경희대) 진학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7D32"/>
                </a:solidFill>
              </a:defRPr>
            </a:pPr>
            <a:r>
              <a:t>✅ [강력 추천 / 안전]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B5E20"/>
                </a:solidFill>
              </a:defRPr>
            </a:pPr>
            <a:r>
              <a:t>전략적 판단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이미 검증된 인력으로 분류됨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최상위 랩(Top Lab) 진학 가능성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학부 연구생 경험 활용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장학금 &amp; 인건비 협상 유리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지도교수와의 신뢰 관계 구축됨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🎯 Best Action</a:t>
            </a:r>
          </a:p>
          <a:p>
            <a:pPr lvl="1">
              <a:defRPr sz="2000">
                <a:solidFill>
                  <a:srgbClr val="141E30"/>
                </a:solidFill>
              </a:defRPr>
            </a:pPr>
            <a:r>
              <a:t>학부 연구생 활동을 했던 랩으로 직행 진학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1C1C"/>
                </a:solidFill>
              </a:defRPr>
            </a:pPr>
            <a:r>
              <a:t>옵션 2: 타대 (SPK) 진학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32F2F"/>
                </a:solidFill>
              </a:defRPr>
            </a:pPr>
            <a:r>
              <a:t>⚠️ [도전 / 위험]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B71C1C"/>
                </a:solidFill>
              </a:defRPr>
            </a:pPr>
            <a:r>
              <a:t>전략적 판단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⚠ 학점 컷오프 존재 (높은 진입장벽)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⚠ 획기적인 연구 실적 필수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⚠ Top-tier 논문 없이는 합격 어려움</a:t>
            </a:r>
          </a:p>
          <a:p>
            <a:pPr lvl="1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⚠ 매우 높은 경쟁률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1C1C"/>
                </a:solidFill>
              </a:defRPr>
            </a:pPr>
            <a:r>
              <a:t>🎯 우회 전략</a:t>
            </a:r>
          </a:p>
          <a:p>
            <a:pPr lvl="1">
              <a:spcAft>
                <a:spcPts val="400"/>
              </a:spcAft>
              <a:defRPr sz="1900">
                <a:solidFill>
                  <a:srgbClr val="141E30"/>
                </a:solidFill>
              </a:defRPr>
            </a:pPr>
            <a:r>
              <a:t>• 4학년 여름방학 (2026년 여름) 인턴십 프로그램 지원</a:t>
            </a:r>
          </a:p>
          <a:p>
            <a:pPr lvl="1">
              <a:defRPr sz="1900">
                <a:solidFill>
                  <a:srgbClr val="141E30"/>
                </a:solidFill>
              </a:defRPr>
            </a:pPr>
            <a:r>
              <a:t>• Open Lab을 통한 우회로 모색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5100"/>
                </a:solidFill>
              </a:defRPr>
            </a:pPr>
            <a:r>
              <a:t>옵션 3: 타대 (YK/IST) 진학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7C00"/>
                </a:solidFill>
              </a:defRPr>
            </a:pPr>
            <a:r>
              <a:t>💪 [도전 / 가능]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E65100"/>
                </a:solidFill>
              </a:defRPr>
            </a:pPr>
            <a:r>
              <a:t>핵심 인사이트</a:t>
            </a:r>
          </a:p>
          <a:p>
            <a:pPr lvl="1"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✓ 시스템 분야 랩은 실무 능력 중시</a:t>
            </a:r>
          </a:p>
          <a:p>
            <a:pPr lvl="1"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✓ 논문보다 구현 능력과 기술적 깊이가 중요</a:t>
            </a:r>
          </a:p>
          <a:p>
            <a:pPr lvl="1"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✓ 효과적인 컨택이 합격의 핵심</a:t>
            </a:r>
          </a:p>
          <a:p>
            <a:pPr lvl="1"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✓ 포트폴리오와 기술 역량 증명 필수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2600" b="1">
                <a:solidFill>
                  <a:srgbClr val="E65100"/>
                </a:solidFill>
              </a:defRPr>
            </a:pPr>
            <a:r>
              <a:t>🎯 핵심 3요소 전략</a:t>
            </a:r>
          </a:p>
          <a:p>
            <a:pPr lvl="1">
              <a:spcAft>
                <a:spcPts val="600"/>
              </a:spcAft>
              <a:defRPr sz="2000" b="1">
                <a:solidFill>
                  <a:srgbClr val="3C3C3C"/>
                </a:solidFill>
              </a:defRPr>
            </a:pPr>
            <a:r>
              <a:t>1️⃣ GitHub 포트폴리오 강화</a:t>
            </a:r>
          </a:p>
          <a:p>
            <a:pPr lvl="1">
              <a:spcAft>
                <a:spcPts val="600"/>
              </a:spcAft>
              <a:defRPr sz="2000" b="1">
                <a:solidFill>
                  <a:srgbClr val="3C3C3C"/>
                </a:solidFill>
              </a:defRPr>
            </a:pPr>
            <a:r>
              <a:t>2️⃣ 기술 블로그 운영</a:t>
            </a:r>
          </a:p>
          <a:p>
            <a:pPr lvl="1">
              <a:spcAft>
                <a:spcPts val="600"/>
              </a:spcAft>
              <a:defRPr sz="2000" b="1">
                <a:solidFill>
                  <a:srgbClr val="3C3C3C"/>
                </a:solidFill>
              </a:defRPr>
            </a:pPr>
            <a:r>
              <a:t>3️⃣ 공격적 Cold Email 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1️⃣ GitHub 포트폴리오 구축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D47A1"/>
                </a:solidFill>
              </a:defRPr>
            </a:pPr>
            <a:r>
              <a:t>📌 프로젝트 선정 기준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시스템 프로그래밍 (OS, Network, Distributed Systems)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성능 최적화 사례 포함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실제 문제 해결 중심 (Toy Project 지양)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0D47A1"/>
                </a:solidFill>
              </a:defRPr>
            </a:pPr>
            <a:r>
              <a:t>📌 README 작성 필수 요소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Problem Statement (해결하려는 문제)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Architecture Diagram (시스템 구조도)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Performance Metrics (성능 지표)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Challenges &amp; Solutions (도전과 해결 과정)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0D47A1"/>
                </a:solidFill>
              </a:defRPr>
            </a:pPr>
            <a:r>
              <a:t>📌 코드 품질 관리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일관된 코딩 스타일 (PEP8, Google Style Guide)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의미 있는 주석 (Why, not What)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Unit Test 포함 (테스트 커버리지 50%+)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148C"/>
                </a:solidFill>
              </a:defRPr>
            </a:pPr>
            <a:r>
              <a:t>2️⃣ 기술 블로그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A148C"/>
                </a:solidFill>
              </a:defRPr>
            </a:pPr>
            <a:r>
              <a:t>📝 추천 주제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시스템 성능 최적화 경험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복잡한 버그 디버깅 과정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운영체제 내부 동작 분석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네트워크 프로토콜 구현 경험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분산 시스템 설계 및 트레이드오프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100" b="1">
                <a:solidFill>
                  <a:srgbClr val="4A148C"/>
                </a:solidFill>
              </a:defRPr>
            </a:pPr>
            <a:r>
              <a:t>📝 포스트 작성 구조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Problem: 무엇을 해결하려 했는가?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Approach: 어떤 방법을 시도했는가?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Deep Dive: 기술적으로 어떻게 구현했는가?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Results: 결과와 성능 개선 수치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Lessons Learned: 배운 점과 향후 개선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100" b="1">
                <a:solidFill>
                  <a:srgbClr val="4A148C"/>
                </a:solidFill>
              </a:defRPr>
            </a:pPr>
            <a:r>
              <a:t>📝 전략적 팁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Medium / 개인 블로그 (dev.to, velog) 활용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월 1-2회 정기 포스팅 (Consistency)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영어 버전 병행 작성 (국제적 가시성)</a:t>
            </a:r>
          </a:p>
          <a:p>
            <a:pPr lvl="1"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t>• 코드 스니펫 &amp; 다이어그램 풍부하게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BF360C"/>
                </a:solidFill>
              </a:defRPr>
            </a:pPr>
            <a:r>
              <a:t>3️⃣ 공격적 Cold Email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BF360C"/>
                </a:solidFill>
              </a:defRPr>
            </a:pPr>
            <a:r>
              <a:t>✉️ 사전 준비 (Research)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교수님의 최근 3년 논문 리스트 확인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연구실 홈페이지 진행 프로젝트 파악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연구실 졸업생 진로 조사 (LinkedIn)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최근 학회 발표 자료 확인</a:t>
            </a:r>
          </a:p>
          <a:p>
            <a:pPr>
              <a:spcBef>
                <a:spcPts val="1200"/>
              </a:spcBef>
              <a:spcAft>
                <a:spcPts val="700"/>
              </a:spcAft>
              <a:defRPr sz="2000" b="1">
                <a:solidFill>
                  <a:srgbClr val="BF360C"/>
                </a:solidFill>
              </a:defRPr>
            </a:pPr>
            <a:r>
              <a:t>✉️ 이메일 구성 요소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Subject: 간결하고 구체적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Opening: 특정 논문/프로젝트 언급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Body: 관련 경험 &amp; 역량 (GitHub 링크)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Technical Blog: 깊이 있는 포스트 1-2개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Closing: 간단한 미팅 요청 (15-30분)</a:t>
            </a:r>
          </a:p>
          <a:p>
            <a:pPr>
              <a:spcBef>
                <a:spcPts val="1200"/>
              </a:spcBef>
              <a:spcAft>
                <a:spcPts val="700"/>
              </a:spcAft>
              <a:defRPr sz="2000" b="1">
                <a:solidFill>
                  <a:srgbClr val="BF360C"/>
                </a:solidFill>
              </a:defRPr>
            </a:pPr>
            <a:r>
              <a:t>✉️ 타이밍 &amp; Follow-up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학기 시작 2-3개월 전 발송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1주일 후 응답 없으면 1회 Follow-up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여러 교수님께 동시 발송 (3-5명)</a:t>
            </a:r>
          </a:p>
          <a:p>
            <a:pPr lvl="1"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t>• 거절 시 피드백 요청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3C3C"/>
                </a:solidFill>
              </a:defRPr>
            </a:pPr>
            <a:r>
              <a:t>Cold Email 템플릿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82828"/>
                </a:solidFill>
                <a:latin typeface="Courier New"/>
              </a:defRPr>
            </a:pPr>
            <a:r>
              <a:t>Subject: Interest in Your Research on [Specific Topic]</a:t>
            </a:r>
            <a:br/>
            <a:br/>
            <a:r>
              <a:t>Dear Professor [Name],</a:t>
            </a:r>
            <a:br/>
            <a:br/>
            <a:r>
              <a:t>I am [Your Name], a senior undergraduate student majoring in Computer Science at Kyung Hee University. I recently read your paper "[Paper Title]" published at [Conference/Journal], and I was particularly fascinated by [specific technical aspect].</a:t>
            </a:r>
            <a:br/>
            <a:br/>
            <a:r>
              <a:t>I have been working on [related project/research area], and I believe my background aligns well with your research. Here are some of my relevant works:</a:t>
            </a:r>
            <a:br/>
            <a:br/>
            <a:r>
              <a:t>• GitHub: [link] - [Brief description of key project]</a:t>
            </a:r>
            <a:br/>
            <a:r>
              <a:t>• Technical Blog: [link] - [Brief description of deep-dive post]</a:t>
            </a:r>
            <a:br/>
            <a:br/>
            <a:r>
              <a:t>I would be honored to discuss potential opportunities to join your lab as a graduate student. Would you be available for a brief 15-20 minute meeting?</a:t>
            </a:r>
            <a:br/>
            <a:br/>
            <a:r>
              <a:t>Thank you for your time and consideration.</a:t>
            </a:r>
            <a:br/>
            <a:br/>
            <a:r>
              <a:t>Best regards,</a:t>
            </a:r>
            <a:br/>
            <a:r>
              <a:t>[Your Name]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A1B9A"/>
                </a:solidFill>
              </a:defRPr>
            </a:pPr>
            <a:r>
              <a:t>Phase 4: 석사과정 (2027.03 ~ 2029.02)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B1FA2"/>
                </a:solidFill>
              </a:defRPr>
            </a:pPr>
            <a:r>
              <a:t>🎯 목표: 연구 성과 창출 + 취업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6A1B9A"/>
                </a:solidFill>
              </a:defRPr>
            </a:pPr>
            <a:r>
              <a:t>📌 1년차 (2027.03 ~ 2027.12)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필수 과목 &amp; 고급 전공 수업 수강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석사 연구 주제 선정 및 실험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여름: 인턴십/산학협동 기회 모색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국내 학회 논문 발표 목표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200" b="1">
                <a:solidFill>
                  <a:srgbClr val="6A1B9A"/>
                </a:solidFill>
              </a:defRPr>
            </a:pPr>
            <a:r>
              <a:t>📌 2년차 (2028.01 ~ 2029.02)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국제 학회 논문 제출 (상반기 1건)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졸업 논문 완성 및 심사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취업 준비 병행 (하반기부터)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오픈소스 기여 &amp; 영어 발표 능력 강화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200" b="1">
                <a:solidFill>
                  <a:srgbClr val="6A1B9A"/>
                </a:solidFill>
              </a:defRPr>
            </a:pPr>
            <a:r>
              <a:t>📌 목표 성과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국제 학회 발표 1회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국내외 저널/학회 1-2회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석사학위 취득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• 희망 직장 입사 (2029.03~)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추천 프로젝트 (FastAPI + PyTorch + 분산학습)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D47A1"/>
                </a:solidFill>
              </a:defRPr>
            </a:pPr>
            <a:r>
              <a:t>1. 대용량 이미지 분류 서비스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Celery 분산 처리 기반 모델 API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FastAPI + PyTorch + Docker + Redis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</a:defRPr>
            </a:pPr>
            <a:r>
              <a:t>2. 분산 딥러닝 훈련 관리 웹앱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Distributed Training Dashboard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실시간 학습 모니터링 &amp; 시각화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</a:defRPr>
            </a:pPr>
            <a:r>
              <a:t>3. Federated Learning 시뮬레이터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연합학습 클라이언트-서버 시스템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Flower 프레임워크 + FastAPI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</a:defRPr>
            </a:pPr>
            <a:r>
              <a:t>4. 실시간 분산 추론 서비스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Load Balancing을 통한 추론 최적화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로드밸런싱 + 멀티워커 구조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</a:defRPr>
            </a:pPr>
            <a:r>
              <a:t>5. 자동 ML 파이프라인 &amp; CI/CD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MLOps 종합 플랫폼</a:t>
            </a:r>
          </a:p>
          <a:p>
            <a:pPr lvl="1"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t>  • AutoML + 자동 배포 + 모니터링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579B"/>
                </a:solidFill>
              </a:defRPr>
            </a:pPr>
            <a:r>
              <a:t>YK/IST 대비 6개월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1579B"/>
                </a:solidFill>
              </a:defRPr>
            </a:pPr>
            <a:r>
              <a:t>Month 1-2: 포트폴리오 구축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GitHub 프로젝트 3개 선정 &amp; README 작성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코드 리팩토링 &amp; 주석 추가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기술 블로그 플랫폼 선정 &amp; 첫 포스트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200" b="1">
                <a:solidFill>
                  <a:srgbClr val="01579B"/>
                </a:solidFill>
              </a:defRPr>
            </a:pPr>
            <a:r>
              <a:t>Month 3-4: 콘텐츠 강화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기술 블로그 2-3개 추가 포스팅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GitHub 프로젝트 테스트 코드 추가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타겟 대학 연구실 리스트업 (5-10개)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200" b="1">
                <a:solidFill>
                  <a:srgbClr val="01579B"/>
                </a:solidFill>
              </a:defRPr>
            </a:pPr>
            <a:r>
              <a:t>Month 5: 컨택 준비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교수님 연구 분야 상세 조사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맞춤형 Cold Email 초안 작성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이메일 리뷰 &amp; 피드백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200" b="1">
                <a:solidFill>
                  <a:srgbClr val="01579B"/>
                </a:solidFill>
              </a:defRPr>
            </a:pPr>
            <a:r>
              <a:t>Month 6: 공격적 컨택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Cold Email 발송 (주 2-3명)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Follow-up 관리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교수님과 미팅 진행</a:t>
            </a:r>
          </a:p>
          <a:p>
            <a:pPr lvl="1">
              <a:spcAft>
                <a:spcPts val="400"/>
              </a:spcAft>
              <a:defRPr sz="1700">
                <a:solidFill>
                  <a:srgbClr val="282828"/>
                </a:solidFill>
              </a:defRPr>
            </a:pPr>
            <a:r>
              <a:t>✓ 필요 시 Open Lab 지원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핵심 성공 요인 (Key Success Factors)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B5E20"/>
                </a:solidFill>
              </a:defRPr>
            </a:pPr>
            <a:r>
              <a:t>🎯 Consistency (일관성)</a:t>
            </a:r>
          </a:p>
          <a:p>
            <a:pPr lvl="1"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t>6개월간 꾸준한 포트폴리오 관리 및 블로그 운영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1B5E20"/>
                </a:solidFill>
              </a:defRPr>
            </a:pPr>
            <a:r>
              <a:t>🎯 Quality over Quantity</a:t>
            </a:r>
          </a:p>
          <a:p>
            <a:pPr lvl="1"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t>프로젝트 10개보다 고품질 3개가 더 효과적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1B5E20"/>
                </a:solidFill>
              </a:defRPr>
            </a:pPr>
            <a:r>
              <a:t>🎯 Specificity (구체성)</a:t>
            </a:r>
          </a:p>
          <a:p>
            <a:pPr lvl="1"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t>일반적 관심보다 구체적인 연구 주제와 경험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1B5E20"/>
                </a:solidFill>
              </a:defRPr>
            </a:pPr>
            <a:r>
              <a:t>🎯 Proactiveness (적극성)</a:t>
            </a:r>
          </a:p>
          <a:p>
            <a:pPr lvl="1"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t>답변 기다리기보다 Follow-up과 대안 모색</a:t>
            </a:r>
          </a:p>
          <a:p>
            <a:pPr>
              <a:spcBef>
                <a:spcPts val="1800"/>
              </a:spcBef>
              <a:spcAft>
                <a:spcPts val="600"/>
              </a:spcAft>
              <a:defRPr sz="2400" b="1">
                <a:solidFill>
                  <a:srgbClr val="1B5E20"/>
                </a:solidFill>
              </a:defRPr>
            </a:pPr>
            <a:r>
              <a:t>🎯 Continuous Learning</a:t>
            </a:r>
          </a:p>
          <a:p>
            <a:pPr lvl="1"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t>최신 기술 트렌드 학습 및 적용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1. 부트캠프 기간 집중: 이론 + 실전 프로젝트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2. 학부연구생으로 연구 경험 쌓기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3. 포트폴리오 3개+ 완성 (GitHub + 블로그)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4. 대학원 옵션별 전략 실행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5. 2029년 목표: 석사 학위 + 희망 직장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💪 Consistency + Quality + Proactiveness =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